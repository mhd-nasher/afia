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lse-periwink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248" y="2788920"/>
            <a:ext cx="8229600" cy="21579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05156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80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عافية</a:t>
            </a:r>
            <a:endParaRPr lang="ar-SA" sz="8000" dirty="0"/>
          </a:p>
        </p:txBody>
      </p:sp>
      <p:sp>
        <p:nvSpPr>
          <p:cNvPr id="4" name="Text 1"/>
          <p:cNvSpPr/>
          <p:nvPr/>
        </p:nvSpPr>
        <p:spPr>
          <a:xfrm>
            <a:off x="0" y="2395728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9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Afia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0" y="48463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240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تسليم مناوبات صوتي آمن — ووصول أسرع للرعاية</a:t>
            </a:r>
            <a:endParaRPr lang="ar-SA" sz="2400" dirty="0"/>
          </a:p>
        </p:txBody>
      </p:sp>
      <p:sp>
        <p:nvSpPr>
          <p:cNvPr id="6" name="Text 3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140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هاكاثون ٢٠٢٦  ·  </a:t>
            </a:r>
            <a:pPr algn="ctr" indent="0" marL="0">
              <a:buNone/>
            </a:pPr>
            <a:r>
              <a:rPr lang="ar-SA" altLang="en-US" sz="1400" b="1" dirty="0">
                <a:solidFill>
                  <a:srgbClr val="8FA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عافية</a:t>
            </a:r>
            <a:endParaRPr lang="ar-SA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8FA9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4937760" y="18745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54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الألم</a:t>
            </a:r>
            <a:endParaRPr lang="ar-SA" sz="5400" dirty="0"/>
          </a:p>
        </p:txBody>
      </p:sp>
      <p:sp>
        <p:nvSpPr>
          <p:cNvPr id="4" name="Text 2"/>
          <p:cNvSpPr/>
          <p:nvPr/>
        </p:nvSpPr>
        <p:spPr>
          <a:xfrm>
            <a:off x="4937760" y="3017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80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ممرض يغرق في المهام الجانبية · ومريض ينتظر أكثر مما يجب</a:t>
            </a:r>
            <a:endParaRPr lang="ar-SA" sz="1800" dirty="0"/>
          </a:p>
        </p:txBody>
      </p:sp>
      <p:pic>
        <p:nvPicPr>
          <p:cNvPr id="5" name="Image 0" descr="pulse-fa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4343400"/>
            <a:ext cx="8229600" cy="21579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34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مشكلتان، منظومة واحدة</a:t>
            </a:r>
            <a:endParaRPr lang="ar-SA" sz="3400" dirty="0"/>
          </a:p>
        </p:txBody>
      </p:sp>
      <p:sp>
        <p:nvSpPr>
          <p:cNvPr id="3" name="Shape 1"/>
          <p:cNvSpPr/>
          <p:nvPr/>
        </p:nvSpPr>
        <p:spPr>
          <a:xfrm>
            <a:off x="6172200" y="155448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52760" y="1828800"/>
            <a:ext cx="566928" cy="566928"/>
          </a:xfrm>
          <a:prstGeom prst="ellipse">
            <a:avLst/>
          </a:prstGeom>
          <a:solidFill>
            <a:srgbClr val="2D4A8A"/>
          </a:solidFill>
          <a:ln/>
        </p:spPr>
      </p:sp>
      <p:pic>
        <p:nvPicPr>
          <p:cNvPr id="5" name="Image 0" descr="ic-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195681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8288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9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وقت الممرض وجودة التسليم</a:t>
            </a:r>
            <a:endParaRPr lang="ar-SA" sz="1900" dirty="0"/>
          </a:p>
        </p:txBody>
      </p:sp>
      <p:sp>
        <p:nvSpPr>
          <p:cNvPr id="7" name="Text 4"/>
          <p:cNvSpPr/>
          <p:nvPr/>
        </p:nvSpPr>
        <p:spPr>
          <a:xfrm>
            <a:off x="6492240" y="269748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التوثيق اليدوي يستهلك ساعات من كل وردية</a:t>
            </a:r>
            <a:endParaRPr lang="ar-SA" sz="15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تسليم المناوبة الشفهي يفقد معلومات حرجة</a:t>
            </a:r>
            <a:endParaRPr lang="ar-SA" sz="15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أخطاء أسماء الأدوية المتشابهة أخطر فشل ممكن</a:t>
            </a:r>
            <a:endParaRPr lang="ar-SA" sz="1500" dirty="0"/>
          </a:p>
        </p:txBody>
      </p:sp>
      <p:sp>
        <p:nvSpPr>
          <p:cNvPr id="8" name="Shape 5"/>
          <p:cNvSpPr/>
          <p:nvPr/>
        </p:nvSpPr>
        <p:spPr>
          <a:xfrm>
            <a:off x="658368" y="155448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38928" y="1828800"/>
            <a:ext cx="566928" cy="566928"/>
          </a:xfrm>
          <a:prstGeom prst="ellipse">
            <a:avLst/>
          </a:prstGeom>
          <a:solidFill>
            <a:srgbClr val="E8785C"/>
          </a:solidFill>
          <a:ln/>
        </p:spPr>
      </p:sp>
      <p:pic>
        <p:nvPicPr>
          <p:cNvPr id="10" name="Image 1" descr="ic-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944" y="195681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18288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9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وصول المريض للرعاية</a:t>
            </a:r>
            <a:endParaRPr lang="ar-SA" sz="1900" dirty="0"/>
          </a:p>
        </p:txBody>
      </p:sp>
      <p:sp>
        <p:nvSpPr>
          <p:cNvPr id="12" name="Text 8"/>
          <p:cNvSpPr/>
          <p:nvPr/>
        </p:nvSpPr>
        <p:spPr>
          <a:xfrm>
            <a:off x="978408" y="269748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وصف الحالة يتكرر ثلاث مرات قبل العلاج</a:t>
            </a:r>
            <a:endParaRPr lang="ar-SA" sz="15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الطوارئ تستقبل حالات كان يمكن توجيهها مبكرًا</a:t>
            </a:r>
            <a:endParaRPr lang="ar-SA" sz="15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شفافية عن حالة الطلب بعد إرساله</a:t>
            </a:r>
            <a:endParaRPr lang="ar-SA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34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مبني ومُتحقق منه — أرقام حقيقية</a:t>
            </a:r>
            <a:endParaRPr lang="ar-SA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1920240"/>
            <a:ext cx="2615184" cy="283464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286000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D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114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41248" y="3749040"/>
            <a:ext cx="22494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ar-SA" alt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اختبارًا آليًا ناجحًا</a:t>
            </a:r>
            <a:endParaRPr lang="ar-SA" sz="1400" dirty="0"/>
          </a:p>
        </p:txBody>
      </p:sp>
      <p:sp>
        <p:nvSpPr>
          <p:cNvPr id="6" name="Shape 4"/>
          <p:cNvSpPr/>
          <p:nvPr/>
        </p:nvSpPr>
        <p:spPr>
          <a:xfrm>
            <a:off x="3419856" y="1920240"/>
            <a:ext cx="2615184" cy="283464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19856" y="2286000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8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3602736" y="3749040"/>
            <a:ext cx="22494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ar-SA" alt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قيود سلامة بنيوية</a:t>
            </a:r>
            <a:endParaRPr lang="ar-SA" sz="1400" dirty="0"/>
          </a:p>
        </p:txBody>
      </p:sp>
      <p:sp>
        <p:nvSpPr>
          <p:cNvPr id="9" name="Shape 7"/>
          <p:cNvSpPr/>
          <p:nvPr/>
        </p:nvSpPr>
        <p:spPr>
          <a:xfrm>
            <a:off x="6181344" y="1920240"/>
            <a:ext cx="2615184" cy="283464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81344" y="2286000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D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6364224" y="3749040"/>
            <a:ext cx="22494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ar-SA" alt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واجهات على قاعدة واحدة</a:t>
            </a:r>
            <a:endParaRPr lang="ar-SA" sz="1400" dirty="0"/>
          </a:p>
        </p:txBody>
      </p:sp>
      <p:sp>
        <p:nvSpPr>
          <p:cNvPr id="12" name="Shape 10"/>
          <p:cNvSpPr/>
          <p:nvPr/>
        </p:nvSpPr>
        <p:spPr>
          <a:xfrm>
            <a:off x="8942832" y="1920240"/>
            <a:ext cx="2615184" cy="283464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42832" y="2286000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58C4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9125712" y="3749040"/>
            <a:ext cx="22494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ar-SA" alt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حكم سريري من الذكاء الاصطناعي</a:t>
            </a:r>
            <a:endParaRPr lang="ar-SA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130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رقم أعلاه قابل للإثبات من مستودع الكود مباشرة</a:t>
            </a:r>
            <a:endParaRPr lang="ar-SA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32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الممرض — قائمة الجناح</a:t>
            </a:r>
            <a:endParaRPr lang="ar-SA" sz="3200" dirty="0"/>
          </a:p>
        </p:txBody>
      </p:sp>
      <p:pic>
        <p:nvPicPr>
          <p:cNvPr id="3" name="Image 0" descr="shot-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371600"/>
            <a:ext cx="2313432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040880" y="1737360"/>
            <a:ext cx="548640" cy="548640"/>
          </a:xfrm>
          <a:prstGeom prst="ellipse">
            <a:avLst/>
          </a:prstGeom>
          <a:solidFill>
            <a:srgbClr val="1A1817"/>
          </a:solidFill>
          <a:ln w="19050">
            <a:solidFill>
              <a:srgbClr val="8FA9D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0408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A9D9"/>
                </a:solidFill>
              </a:rPr>
              <a:t>١٢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160020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60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مريضًا في شاشة واحدة — بدون تمرير، مصمم لِلَمْحة الوردية</a:t>
            </a:r>
            <a:endParaRPr lang="ar-SA" sz="1600" dirty="0"/>
          </a:p>
        </p:txBody>
      </p:sp>
      <p:sp>
        <p:nvSpPr>
          <p:cNvPr id="7" name="Shape 4"/>
          <p:cNvSpPr/>
          <p:nvPr/>
        </p:nvSpPr>
        <p:spPr>
          <a:xfrm>
            <a:off x="7040880" y="3108960"/>
            <a:ext cx="548640" cy="548640"/>
          </a:xfrm>
          <a:prstGeom prst="ellipse">
            <a:avLst/>
          </a:prstGeom>
          <a:solidFill>
            <a:srgbClr val="1A1817"/>
          </a:solidFill>
          <a:ln w="19050">
            <a:solidFill>
              <a:srgbClr val="8FA9D9"/>
            </a:solidFill>
            <a:prstDash val="solid"/>
          </a:ln>
        </p:spPr>
      </p:sp>
      <p:pic>
        <p:nvPicPr>
          <p:cNvPr id="8" name="Image 1" descr="ic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3246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97180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60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حالة كل تسليم واضحة: موقّع ≠ مسجَّل في النظام</a:t>
            </a:r>
            <a:endParaRPr lang="ar-SA" sz="1600" dirty="0"/>
          </a:p>
        </p:txBody>
      </p:sp>
      <p:sp>
        <p:nvSpPr>
          <p:cNvPr id="10" name="Shape 6"/>
          <p:cNvSpPr/>
          <p:nvPr/>
        </p:nvSpPr>
        <p:spPr>
          <a:xfrm>
            <a:off x="7040880" y="4480560"/>
            <a:ext cx="548640" cy="548640"/>
          </a:xfrm>
          <a:prstGeom prst="ellipse">
            <a:avLst/>
          </a:prstGeom>
          <a:solidFill>
            <a:srgbClr val="1A1817"/>
          </a:solidFill>
          <a:ln w="19050">
            <a:solidFill>
              <a:srgbClr val="8FA9D9"/>
            </a:solidFill>
            <a:prstDash val="solid"/>
          </a:ln>
        </p:spPr>
      </p:sp>
      <p:pic>
        <p:nvPicPr>
          <p:cNvPr id="11" name="Image 2" descr="ic-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61772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434340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60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حفظ تلقائي كل ٤ ثوانٍ — وضع الجهاز جانبًا آمن دائمًا</a:t>
            </a:r>
            <a:endParaRPr lang="ar-SA" sz="1600" dirty="0"/>
          </a:p>
        </p:txBody>
      </p:sp>
      <p:pic>
        <p:nvPicPr>
          <p:cNvPr id="13" name="Image 3" descr="pulse-fa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212080"/>
            <a:ext cx="4937760" cy="12984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2026-08-19T15:10:31Z</dcterms:created>
  <dcterms:modified xsi:type="dcterms:W3CDTF">2026-08-19T15:10:31Z</dcterms:modified>
</cp:coreProperties>
</file>