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الافتتاح (١٥ ثانية): "قبل أن أريكم شيئًا — كل ما ستشاهدونه اليوم يعمل الآن، منشور فعليًا، وخلفه ١١٤ اختبارًا آليًا ناجحًا. هذا ليس نموذجًا."
س: هل هذا عرض تصوري؟ ج: لا — تطبيقان iOS جاهزان على TestFlight ولوحة تحكم منشورة على الويب وقاعدة بيانات حية.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لغة الجسد: بطء وثقل. هذه شريحة الشعور — لا أرقام.
س: ما مصدر هذه المشكلة؟ ج: تسليم المناوبات موثق عالميًا كأحد أكثر لحظات الرعاية عرضة لفقدان المعلومات؛ حلولنا صُممت مع هذه اللحظة كنقطة الصفر.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انتقال: "الألم وجهان لعملة واحدة — داخل الجناح وخارجه."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س: ما حجم المشكلة بالأرقام؟ ج: نستهدف قياسها في التجربة الميدانية نفسها — التزامنا: أرقام مقاسة لا مزاعم. المؤشر الأدبي العالمي أن التوثيق يستهلك ما يصل لثلث وقت التمريض.
س: لماذا التركيز على الأدوية المتشابهة؟ ج: لأنها الفشل الوحيد الذي قد يقتل مباشرة — لذلك بنينا لها طبقة اعتراض مخصصة سترونها.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س: كيف تسرّعون الوصول فعليًا؟ ج: المريض يصف حالته صوتيًا من بيته مرة واحدة، النظام يبنيها كملف منظم يصل للممرض قبل وصول المريض — فيبدأ العلاج من معلومات جاهزة لا من الصفر. وأسئلة الأعلام الحمراء توجه الحالة الحرجة للاتصال بالطوارئ فورًا.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انتقال: "بنينا المنظومة كاملة. وسأريكم ثلاث لحظات فقط منها — الثلاث التي تغيّر كل شيء."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س: من يكتب البيانات الطبية إذن؟ ج: البشر فقط. الذكاء الاصطناعي منظِّم وموزِّع — والممرض المرخص يراجع ويوقع. هذا قرار معماري وتنظيمي واعٍ.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اليسار: قائمة الجناح (١٢ صف). اليمين: مراجعة المسودة — النص الآلي بلون البريوينكل حتى يوقّعه إنسان.
س: ماذا لو أخطأ التفريغ؟ ج: النص غير الموثق مميز بصريًا، والصوت الأصلي محفوظ قابل للتشغيل دائمًا، والأرقام والأدوية تُعزل كرقاقات تتطلب تأكيدًا فرديًا — التالي.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ذروة العرض — أبطئ هنا.
س: لماذا لا يوجد "تأكيد الكل"؟ أليس أسرع؟ ج: لأن استبدال دواء متشابه صوتيًا هو أخطر فشل ممكن، وطبقة التأكيد الفردي هي خط الاعتراض الوحيد. حذفنا الزر من الوجود — القاعدة مفروضة في الكود وقاعدة البيانات معًا، لا في الواجهة فقط.
س: وماذا عن النواقص؟ ج: عكسها تمامًا — لا تمنع التوقيع أبدًا (البيانات الخاطئة تقتل، الناقصة تُوثَّق وتُمرَّر) — هذه فلسفة النظام.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س: ماذا لو طلب منه الممرض ترتيب المرضى بالأخطر؟ ج: يرفض ويشرح: الترتيب بالحقائق فقط (وقت الانتظار، الاكتمال، حالة التوقيع) — ترتيب الخطورة حكم سريري والنظام لا يصدره بنيويًا: لا توجد أداة تحمل حقل خطورة أصلًا.
س: أي نموذج؟ ج: Gemini Flash عبر Firebase AI Logic — بلا خادم وسيط، ومع بديل حتمي يعمل بلا إنترنت فلا يتعطل التطبيق أبدًا.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س: لماذا قاعدتا بيانات؟ ج: فصل مقصود — السجلات السريرية في Firestore (منطقة الشرق الأوسط)، وبيانات التشغيل اللحظية (حضور/طلبات — لا محتوى سريري) في Realtime DB. لكل عبء أداته.
س: هل الطلبات موثقة؟ ج: نعم، بحالة معلّق→مقبول→منجز لا يعدلها إلا طرفا الطلب.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س: لماذا الحساب أولًا؟ ج: اختبرناه — البساطة والوضوح فازا؛ ومع ذلك الطوارئ لا تحتاج حسابًا أبدًا: الزر يعمل من شاشة الدخول نفسها وبلا إنترنت.
س: ماذا يرى المريض بعد الإرسال؟ ج: بطاقة حالة صادقة + نص إلزامي: "لا أحد يراقب حالتك باستمرار — إذا ساءت اتصل…" — منتج أمين لا يبيع شعورًا زائفًا بالأمان.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س: لماذا لا تقيسون أداء الممرض الفرد؟ ج: قرار مبدئي محفور: لا سرعة فردية، لا ترتيب، لا مقارنات — القياس الفردي يفسد الثقة ويشوه السلوك. كل الجودة مجمّعة على مستوى الجناح.
س: هل اللوحة في المسار السريري؟ ج: لا — تراقب وتضبط فقط؛ ملف المريض يذهب للممرض مباشرة.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انتقال: "الآن الجزء الذي يجعل كل ما سبق غير قابل للكسر."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س: هل أنتم متكاملون مع Epic/Cerner اليوم؟ ج: بدقة: نحن FHIR-ready — نولّد سجلات DocumentReference صالحة بمعيار المستشفيات العالمي؛ التكامل الفعلي مع أي نظام = مُصدِّر واحد يُكتب في التجربة الميدانية. لا نبيعكم تكاملًا لم يحدث.
س: أين البيانات؟ ج: السجلات السريرية في منطقة الشرق الأوسط (me-central2)، محكومة بقواعد وصول صارمة، وللمريض حق حذف بياناته.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شريحة التميّز — ما من فريق آخر سيقولها.
س: لماذا تقيدون الذكاء لهذه الدرجة؟ ج: لأن خط "الجهاز الطبي" التنظيمي يبدأ حيث يبدأ الحكم السريري الآلي. بالبقاء خلفه بنيويًا: نشر أسرع، ثقة أعلى، ومسؤولية واضحة — الإنسان المرخص هو من يحكم دائمًا.
س: أي نموذج ولماذا؟ ج: Gemini Flash عبر Firebase AI Logic — درجة حرارة صفر، مخرجات ببنية مفروضة، ويتعلم تفضيلات الاستخدام (لا الطب).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الصدق هنا سلاح وليس اعترافًا — لجنة فيها أطباء ستحترم فريقًا يعرف حدود نظامه.
س: كم استغرق البناء؟ ج: جلسة تطوير مكثفة واحدة بمنهجية وكلاء ذكاء اصطناعي متوازين تحت حوكمة صارمة — والدليل: كل commit موثق وكل ميزة وراءها اختبار.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انتقال سريع — الجمهور ثم SWOT ثم الإغلاق.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س: لماذا البحرين أولًا؟ ج: قاعدة بياناتنا أصلًا في المنطقة، أرقام الطوارئ مدمجة (٩٩٩/٤٤٤)، حجم سوق يسمح بتجربة سريعة مع وصول مباشر لصناع القرار — ثم التوسع الخليجي بنفس المنتج حرفيًا.
س: النموذج الربحي؟ ج: اشتراك سنوي لكل سرير + رسوم تفعيل مؤسسية — يُسعَّر بعد قياس وفر الوقت في التجربة الأولى.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س: أكبر تهديد؟ ج: التصنيف التنظيمي — ولهذا بالضبط بنينا الذكاء بلا أحكام سريرية وبقواعد حتمية قابلة للتدقيق: نبقى في الجانب الآمن من الخط بتصميمنا لا بحظنا.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الإغلاق: "غيرنا سيعرض عليكم أفكارًا. نحن نعرض عليكم نظامًا يعمل — والفرق بين الاثنين هو بالضبط الفرق بين مشروع هاكاثون ومنتج يدخل مستشفى." ثم: افتحوا TestFlight وجربوه الآن.
أسئلة الخاتمة المتوقعة:
س: ما الذي تحتاجونه للفوز بعد اليوم؟ ج: جناح تجريبي واحد وشريك حكومي — كل شيء تقني جاهز.
س: لماذا أنتم؟ ج: لأننا الوحيدون الذين جاؤوا بمنتج محكوم بقواعد سلامة قابلة للتدقيق — لا بعرض شرائح.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lse-periwink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2788920"/>
            <a:ext cx="8229600" cy="2157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00584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80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عافية</a:t>
            </a:r>
            <a:endParaRPr lang="ar-SA" sz="8000" dirty="0"/>
          </a:p>
        </p:txBody>
      </p:sp>
      <p:sp>
        <p:nvSpPr>
          <p:cNvPr id="4" name="Text 1"/>
          <p:cNvSpPr/>
          <p:nvPr/>
        </p:nvSpPr>
        <p:spPr>
          <a:xfrm>
            <a:off x="0" y="2359152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Afia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48920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240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تسليم مناوبات صوتي آمن — ووصول أسرع للرعاية</a:t>
            </a:r>
            <a:endParaRPr lang="ar-SA" sz="2400" dirty="0"/>
          </a:p>
        </p:txBody>
      </p:sp>
      <p:sp>
        <p:nvSpPr>
          <p:cNvPr id="6" name="Text 3"/>
          <p:cNvSpPr/>
          <p:nvPr/>
        </p:nvSpPr>
        <p:spPr>
          <a:xfrm>
            <a:off x="0" y="5532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1600" dirty="0">
                <a:solidFill>
                  <a:srgbClr val="8F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مبنية ومنشورة ومُتحقَّق منها — تعمل الآن</a:t>
            </a:r>
            <a:endParaRPr lang="ar-SA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44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السادسة صباحًا.</a:t>
            </a:r>
            <a:endParaRPr lang="ar-SA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ar-SA" altLang="en-US" sz="220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ممرضة أنهت ١٢ ساعة على ١٢ مريضًا، وبقيت عليها أخطر عشر دقائق في الوردية كلها:</a:t>
            </a:r>
            <a:endParaRPr lang="ar-SA" sz="22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ar-SA" altLang="en-US" sz="220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تسليم كل ما تعرفه إلى الوردية القادمة — من الذاكرة، شفهيًا، تحت الإرهاق.</a:t>
            </a:r>
            <a:endParaRPr lang="ar-SA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2800" b="1" dirty="0">
                <a:solidFill>
                  <a:srgbClr val="E8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معلومة واحدة تسقط هنا… لا تعود.</a:t>
            </a:r>
            <a:endParaRPr lang="ar-SA" sz="2800" dirty="0"/>
          </a:p>
        </p:txBody>
      </p:sp>
      <p:pic>
        <p:nvPicPr>
          <p:cNvPr id="5" name="Image 0" descr="pulse-fa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486400"/>
            <a:ext cx="5486400" cy="14356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8FA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937760" y="1874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54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الألم</a:t>
            </a:r>
            <a:endParaRPr lang="ar-SA" sz="5400" dirty="0"/>
          </a:p>
        </p:txBody>
      </p:sp>
      <p:sp>
        <p:nvSpPr>
          <p:cNvPr id="4" name="Text 2"/>
          <p:cNvSpPr/>
          <p:nvPr/>
        </p:nvSpPr>
        <p:spPr>
          <a:xfrm>
            <a:off x="4937760" y="3017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80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ممرض يغرق في المهام الجانبية · ومريض ينتظر أكثر مما يجب</a:t>
            </a:r>
            <a:endParaRPr lang="ar-SA" sz="1800" dirty="0"/>
          </a:p>
        </p:txBody>
      </p:sp>
      <p:pic>
        <p:nvPicPr>
          <p:cNvPr id="5" name="Image 0" descr="pulse-fa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4434840"/>
            <a:ext cx="822960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4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الوجه الأول: وقت الممرض وجودة التسليم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6002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2002536"/>
            <a:ext cx="566928" cy="566928"/>
          </a:xfrm>
          <a:prstGeom prst="ellipse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pic>
        <p:nvPicPr>
          <p:cNvPr id="5" name="Image 0" descr="ic-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7383" y="2138599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التوثيق يلتهم الوردية</a:t>
            </a:r>
            <a:endParaRPr lang="ar-SA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167128"/>
            <a:ext cx="9464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ساعات من كل وردية تذهب للكتابة اليدوية وإعادة النسخ بين الأنظمة — على حساب الوقت السريري مع المريض.</a:t>
            </a:r>
            <a:endParaRPr lang="ar-SA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32004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561320" y="3602736"/>
            <a:ext cx="566928" cy="566928"/>
          </a:xfrm>
          <a:prstGeom prst="ellipse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pic>
        <p:nvPicPr>
          <p:cNvPr id="10" name="Image 1" descr="ic-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7383" y="3738799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33375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التسليم الشفهي يفقد الحرج</a:t>
            </a:r>
            <a:endParaRPr lang="ar-SA" sz="1800" dirty="0"/>
          </a:p>
        </p:txBody>
      </p:sp>
      <p:sp>
        <p:nvSpPr>
          <p:cNvPr id="12" name="Text 8"/>
          <p:cNvSpPr/>
          <p:nvPr/>
        </p:nvSpPr>
        <p:spPr>
          <a:xfrm>
            <a:off x="914400" y="3767328"/>
            <a:ext cx="9464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لم يُقل لا يُسلَّم. الإرهاق والمقاطعات تعني معلومات ناقصة تعبر إلى الوردية التالية بصمت.</a:t>
            </a:r>
            <a:endParaRPr lang="ar-SA" sz="1400" dirty="0"/>
          </a:p>
        </p:txBody>
      </p:sp>
      <p:sp>
        <p:nvSpPr>
          <p:cNvPr id="13" name="Shape 9"/>
          <p:cNvSpPr/>
          <p:nvPr/>
        </p:nvSpPr>
        <p:spPr>
          <a:xfrm>
            <a:off x="658368" y="48006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561320" y="5202936"/>
            <a:ext cx="566928" cy="566928"/>
          </a:xfrm>
          <a:prstGeom prst="ellipse">
            <a:avLst/>
          </a:prstGeom>
          <a:solidFill>
            <a:srgbClr val="E8785C"/>
          </a:solidFill>
          <a:ln w="12700">
            <a:solidFill>
              <a:srgbClr val="E8785C"/>
            </a:solidFill>
            <a:prstDash val="solid"/>
          </a:ln>
        </p:spPr>
      </p:sp>
      <p:pic>
        <p:nvPicPr>
          <p:cNvPr id="15" name="Image 2" descr="ic-cro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7383" y="5338999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77840" y="4937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أخطاء الأدوية المتشابهة</a:t>
            </a:r>
            <a:endParaRPr lang="ar-SA" sz="1800" dirty="0"/>
          </a:p>
        </p:txBody>
      </p:sp>
      <p:sp>
        <p:nvSpPr>
          <p:cNvPr id="17" name="Text 12"/>
          <p:cNvSpPr/>
          <p:nvPr/>
        </p:nvSpPr>
        <p:spPr>
          <a:xfrm>
            <a:off x="914400" y="5367528"/>
            <a:ext cx="9464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furosemide و fluoxetine — اسمان متشابهان صوتيًا لدواءين مختلفين تمامًا. هذا أخطر فشل يمكن أن ينتجه أي نظام تسليم.</a:t>
            </a:r>
            <a:endParaRPr lang="ar-S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4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الوجه الثاني: وصول المريض للرعاية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6002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2002536"/>
            <a:ext cx="566928" cy="566928"/>
          </a:xfrm>
          <a:prstGeom prst="ellipse">
            <a:avLst/>
          </a:prstGeom>
          <a:solidFill>
            <a:srgbClr val="E8785C"/>
          </a:solidFill>
          <a:ln w="12700">
            <a:solidFill>
              <a:srgbClr val="E8785C"/>
            </a:solidFill>
            <a:prstDash val="solid"/>
          </a:ln>
        </p:spPr>
      </p:sp>
      <p:pic>
        <p:nvPicPr>
          <p:cNvPr id="5" name="Image 0" descr="ic-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7383" y="2138599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القصة تُروى ثلاث مرات</a:t>
            </a:r>
            <a:endParaRPr lang="ar-SA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167128"/>
            <a:ext cx="9464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المريض يصف حالته في الهاتف، ثم في الاستقبال، ثم للطاقم — والمعلومة تتآكل مع كل إعادة.</a:t>
            </a:r>
            <a:endParaRPr lang="ar-SA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32004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561320" y="3602736"/>
            <a:ext cx="566928" cy="566928"/>
          </a:xfrm>
          <a:prstGeom prst="ellipse">
            <a:avLst/>
          </a:prstGeom>
          <a:solidFill>
            <a:srgbClr val="E8785C"/>
          </a:solidFill>
          <a:ln w="12700">
            <a:solidFill>
              <a:srgbClr val="E8785C"/>
            </a:solidFill>
            <a:prstDash val="solid"/>
          </a:ln>
        </p:spPr>
      </p:sp>
      <p:pic>
        <p:nvPicPr>
          <p:cNvPr id="10" name="Image 1" descr="ic-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7383" y="3738799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33375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الطوارئ مزدحمة بمن لا يحتاجها</a:t>
            </a:r>
            <a:endParaRPr lang="ar-SA" sz="1800" dirty="0"/>
          </a:p>
        </p:txBody>
      </p:sp>
      <p:sp>
        <p:nvSpPr>
          <p:cNvPr id="12" name="Text 8"/>
          <p:cNvSpPr/>
          <p:nvPr/>
        </p:nvSpPr>
        <p:spPr>
          <a:xfrm>
            <a:off x="914400" y="3767328"/>
            <a:ext cx="9464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حالات كان يمكن توجيهها مبكرًا للمسار الصحيح تنتظر في طابور الطوارئ — والحالات الحرجة تدفع الثمن.</a:t>
            </a:r>
            <a:endParaRPr lang="ar-SA" sz="1400" dirty="0"/>
          </a:p>
        </p:txBody>
      </p:sp>
      <p:sp>
        <p:nvSpPr>
          <p:cNvPr id="13" name="Shape 9"/>
          <p:cNvSpPr/>
          <p:nvPr/>
        </p:nvSpPr>
        <p:spPr>
          <a:xfrm>
            <a:off x="658368" y="48006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561320" y="5202936"/>
            <a:ext cx="566928" cy="566928"/>
          </a:xfrm>
          <a:prstGeom prst="ellipse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pic>
        <p:nvPicPr>
          <p:cNvPr id="15" name="Image 2" descr="ic-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7383" y="5338999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77840" y="4937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شفافية بعد الإرسال</a:t>
            </a:r>
            <a:endParaRPr lang="ar-SA" sz="1800" dirty="0"/>
          </a:p>
        </p:txBody>
      </p:sp>
      <p:sp>
        <p:nvSpPr>
          <p:cNvPr id="17" name="Text 12"/>
          <p:cNvSpPr/>
          <p:nvPr/>
        </p:nvSpPr>
        <p:spPr>
          <a:xfrm>
            <a:off x="914400" y="5367528"/>
            <a:ext cx="9464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أرسل المريض حالته… ثم ماذا؟ صمت. لا يعرف هل وصلت، ولا متى يتصرف إذا ساءت حالته.</a:t>
            </a:r>
            <a:endParaRPr lang="ar-SA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8FA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937760" y="1874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54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الحل: عافية</a:t>
            </a:r>
            <a:endParaRPr lang="ar-SA" sz="5400" dirty="0"/>
          </a:p>
        </p:txBody>
      </p:sp>
      <p:sp>
        <p:nvSpPr>
          <p:cNvPr id="4" name="Text 2"/>
          <p:cNvSpPr/>
          <p:nvPr/>
        </p:nvSpPr>
        <p:spPr>
          <a:xfrm>
            <a:off x="4937760" y="3017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80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واحدة — ثلاث واجهات — قاعدة حية واحدة</a:t>
            </a:r>
            <a:endParaRPr lang="ar-SA" sz="1800" dirty="0"/>
          </a:p>
        </p:txBody>
      </p:sp>
      <p:pic>
        <p:nvPicPr>
          <p:cNvPr id="5" name="Image 0" descr="pulse-fa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4434840"/>
            <a:ext cx="822960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4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واحدة، ثلاث واجهات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554480"/>
            <a:ext cx="3529584" cy="420624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93976" y="1828800"/>
            <a:ext cx="658368" cy="658368"/>
          </a:xfrm>
          <a:prstGeom prst="ellipse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pic>
        <p:nvPicPr>
          <p:cNvPr id="5" name="Image 0" descr="ic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1984" y="1986808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51760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20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الممرض</a:t>
            </a:r>
            <a:endParaRPr lang="ar-SA" sz="2000" dirty="0"/>
          </a:p>
        </p:txBody>
      </p:sp>
      <p:sp>
        <p:nvSpPr>
          <p:cNvPr id="7" name="Text 4"/>
          <p:cNvSpPr/>
          <p:nvPr/>
        </p:nvSpPr>
        <p:spPr>
          <a:xfrm>
            <a:off x="841248" y="3127248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 · جاهز على TestFlight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32688" y="3566160"/>
            <a:ext cx="298094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ar-SA" alt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تكلم — والنظام يحوّل الكلام إلى تسليم منظم بقالب الجناح، يكشف النواقص، ويؤمّن الأدوية، ويوقَّع ويُسجَّل.</a:t>
            </a:r>
            <a:endParaRPr lang="ar-SA" sz="1350" dirty="0"/>
          </a:p>
        </p:txBody>
      </p:sp>
      <p:sp>
        <p:nvSpPr>
          <p:cNvPr id="9" name="Shape 6"/>
          <p:cNvSpPr/>
          <p:nvPr/>
        </p:nvSpPr>
        <p:spPr>
          <a:xfrm>
            <a:off x="4334256" y="1554480"/>
            <a:ext cx="3529584" cy="420624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9864" y="1828800"/>
            <a:ext cx="658368" cy="658368"/>
          </a:xfrm>
          <a:prstGeom prst="ellipse">
            <a:avLst/>
          </a:prstGeom>
          <a:solidFill>
            <a:srgbClr val="E8785C"/>
          </a:solidFill>
          <a:ln w="12700">
            <a:solidFill>
              <a:srgbClr val="E8785C"/>
            </a:solidFill>
            <a:prstDash val="solid"/>
          </a:ln>
        </p:spPr>
      </p:sp>
      <p:pic>
        <p:nvPicPr>
          <p:cNvPr id="11" name="Image 1" descr="ic-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872" y="198680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7136" y="2651760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20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المريض</a:t>
            </a:r>
            <a:endParaRPr lang="ar-SA" sz="2000" dirty="0"/>
          </a:p>
        </p:txBody>
      </p:sp>
      <p:sp>
        <p:nvSpPr>
          <p:cNvPr id="13" name="Text 9"/>
          <p:cNvSpPr/>
          <p:nvPr/>
        </p:nvSpPr>
        <p:spPr>
          <a:xfrm>
            <a:off x="4517136" y="3127248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 · جاهز على TestFlight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608576" y="3566160"/>
            <a:ext cx="298094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ar-SA" alt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 بسيط، «أبلغ عن حالتي» بزر واحد، أعلام حمراء فورية بدون إنترنت، وسجل تقارير واضح.</a:t>
            </a:r>
            <a:endParaRPr lang="ar-SA" sz="1350" dirty="0"/>
          </a:p>
        </p:txBody>
      </p:sp>
      <p:sp>
        <p:nvSpPr>
          <p:cNvPr id="15" name="Shape 11"/>
          <p:cNvSpPr/>
          <p:nvPr/>
        </p:nvSpPr>
        <p:spPr>
          <a:xfrm>
            <a:off x="8010144" y="1554480"/>
            <a:ext cx="3529584" cy="420624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445752" y="1828800"/>
            <a:ext cx="658368" cy="658368"/>
          </a:xfrm>
          <a:prstGeom prst="ellipse">
            <a:avLst/>
          </a:prstGeom>
          <a:solidFill>
            <a:srgbClr val="58C48F"/>
          </a:solidFill>
          <a:ln w="12700">
            <a:solidFill>
              <a:srgbClr val="58C48F"/>
            </a:solidFill>
            <a:prstDash val="solid"/>
          </a:ln>
        </p:spPr>
      </p:sp>
      <p:pic>
        <p:nvPicPr>
          <p:cNvPr id="17" name="Image 2" descr="ic-buil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760" y="1986808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93024" y="2651760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20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الإدارة</a:t>
            </a:r>
            <a:endParaRPr lang="ar-SA" sz="2000" dirty="0"/>
          </a:p>
        </p:txBody>
      </p:sp>
      <p:sp>
        <p:nvSpPr>
          <p:cNvPr id="19" name="Text 14"/>
          <p:cNvSpPr/>
          <p:nvPr/>
        </p:nvSpPr>
        <p:spPr>
          <a:xfrm>
            <a:off x="8193024" y="3127248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C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ويب · منشورة الآن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284464" y="3566160"/>
            <a:ext cx="298094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ar-SA" alt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مراقبة حية لتجاوزات وقت المراجعة، إنشاء حسابات الطاقم، إدارة القوالب والأسئلة بسجل حوكمة.</a:t>
            </a:r>
            <a:endParaRPr lang="ar-SA" sz="1350" dirty="0"/>
          </a:p>
        </p:txBody>
      </p:sp>
      <p:sp>
        <p:nvSpPr>
          <p:cNvPr id="21" name="Text 16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1500" b="1" dirty="0">
                <a:solidFill>
                  <a:srgbClr val="2D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المبدأ: الذكاء الاصطناعي يعيد تنظيم ما قاله الإنسان — ولا يُصدر حكمًا سريريًا أبدًا</a:t>
            </a:r>
            <a:endParaRPr lang="ar-SA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2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اللحظة الأولى: الكلام يصبح تسليمًا</a:t>
            </a:r>
            <a:endParaRPr lang="ar-SA" sz="3200" dirty="0"/>
          </a:p>
        </p:txBody>
      </p:sp>
      <p:pic>
        <p:nvPicPr>
          <p:cNvPr id="3" name="Image 0" descr="shots/c-03-ward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371600"/>
            <a:ext cx="2313339" cy="5029200"/>
          </a:xfrm>
          <a:prstGeom prst="rect">
            <a:avLst/>
          </a:prstGeom>
        </p:spPr>
      </p:pic>
      <p:pic>
        <p:nvPicPr>
          <p:cNvPr id="4" name="Image 1" descr="shots/c-04-draft-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2313339" cy="50292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212080" y="1737360"/>
            <a:ext cx="548640" cy="548640"/>
          </a:xfrm>
          <a:prstGeom prst="ellipse">
            <a:avLst/>
          </a:prstGeom>
          <a:solidFill>
            <a:srgbClr val="1A1817"/>
          </a:solidFill>
          <a:ln w="19050">
            <a:solidFill>
              <a:srgbClr val="8FA9D9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212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9D9"/>
                </a:solidFill>
              </a:rPr>
              <a:t>١٢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02920" y="1572768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45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مريضًا في شاشة واحدة بلا تمرير — لمحة الوردية كاملة</a:t>
            </a:r>
            <a:endParaRPr lang="ar-SA" sz="1450" dirty="0"/>
          </a:p>
        </p:txBody>
      </p:sp>
      <p:sp>
        <p:nvSpPr>
          <p:cNvPr id="8" name="Shape 4"/>
          <p:cNvSpPr/>
          <p:nvPr/>
        </p:nvSpPr>
        <p:spPr>
          <a:xfrm>
            <a:off x="5212080" y="3108960"/>
            <a:ext cx="548640" cy="548640"/>
          </a:xfrm>
          <a:prstGeom prst="ellipse">
            <a:avLst/>
          </a:prstGeom>
          <a:solidFill>
            <a:srgbClr val="1A1817"/>
          </a:solidFill>
          <a:ln w="19050">
            <a:solidFill>
              <a:srgbClr val="8FA9D9"/>
            </a:solidFill>
            <a:prstDash val="solid"/>
          </a:ln>
        </p:spPr>
      </p:sp>
      <p:pic>
        <p:nvPicPr>
          <p:cNvPr id="9" name="Image 2" descr="ic-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754" y="3240634"/>
            <a:ext cx="285293" cy="2852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920" y="2944368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45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الممرض يتكلم طبيعيًا — والقالب يمتلئ ويُحفظ كل ٤ ثوانٍ</a:t>
            </a:r>
            <a:endParaRPr lang="ar-SA" sz="1450" dirty="0"/>
          </a:p>
        </p:txBody>
      </p:sp>
      <p:sp>
        <p:nvSpPr>
          <p:cNvPr id="11" name="Shape 6"/>
          <p:cNvSpPr/>
          <p:nvPr/>
        </p:nvSpPr>
        <p:spPr>
          <a:xfrm>
            <a:off x="5212080" y="4480560"/>
            <a:ext cx="548640" cy="548640"/>
          </a:xfrm>
          <a:prstGeom prst="ellipse">
            <a:avLst/>
          </a:prstGeom>
          <a:solidFill>
            <a:srgbClr val="1A1817"/>
          </a:solidFill>
          <a:ln w="19050">
            <a:solidFill>
              <a:srgbClr val="8FA9D9"/>
            </a:solidFill>
            <a:prstDash val="solid"/>
          </a:ln>
        </p:spPr>
      </p:sp>
      <p:pic>
        <p:nvPicPr>
          <p:cNvPr id="12" name="Image 3" descr="ic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754" y="4612234"/>
            <a:ext cx="285293" cy="2852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2920" y="4315968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45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النواقص تُعلَن بحيادية: «غير مذكور: وقت آخر مسكّن» — ولا تمنع التوقيع أبدًا</a:t>
            </a:r>
            <a:endParaRPr lang="ar-SA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2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اللحظة الثانية: اعتراض الخطأ القاتل</a:t>
            </a:r>
            <a:endParaRPr lang="ar-SA" sz="3200" dirty="0"/>
          </a:p>
        </p:txBody>
      </p:sp>
      <p:pic>
        <p:nvPicPr>
          <p:cNvPr id="3" name="Image 0" descr="shots/c-05-confirm-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371600"/>
            <a:ext cx="2313339" cy="5029200"/>
          </a:xfrm>
          <a:prstGeom prst="rect">
            <a:avLst/>
          </a:prstGeom>
        </p:spPr>
      </p:pic>
      <p:pic>
        <p:nvPicPr>
          <p:cNvPr id="4" name="Image 1" descr="shots/c-06-sign-she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2313339" cy="50292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212080" y="1737360"/>
            <a:ext cx="548640" cy="548640"/>
          </a:xfrm>
          <a:prstGeom prst="ellipse">
            <a:avLst/>
          </a:prstGeom>
          <a:solidFill>
            <a:srgbClr val="1A1817"/>
          </a:solidFill>
          <a:ln w="19050">
            <a:solidFill>
              <a:srgbClr val="E8785C"/>
            </a:solidFill>
            <a:prstDash val="solid"/>
          </a:ln>
        </p:spPr>
      </p:sp>
      <p:pic>
        <p:nvPicPr>
          <p:cNvPr id="6" name="Image 2" descr="ic-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754" y="1869034"/>
            <a:ext cx="285293" cy="28529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2920" y="1572768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45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دواء وكل جرعة رقاقة مستقلة — تأكيد فردي إجباري، ولا يوجد «تأكيد الكل» في النظام أصلًا</a:t>
            </a:r>
            <a:endParaRPr lang="ar-SA" sz="1450" dirty="0"/>
          </a:p>
        </p:txBody>
      </p:sp>
      <p:sp>
        <p:nvSpPr>
          <p:cNvPr id="8" name="Shape 3"/>
          <p:cNvSpPr/>
          <p:nvPr/>
        </p:nvSpPr>
        <p:spPr>
          <a:xfrm>
            <a:off x="5212080" y="3108960"/>
            <a:ext cx="548640" cy="548640"/>
          </a:xfrm>
          <a:prstGeom prst="ellipse">
            <a:avLst/>
          </a:prstGeom>
          <a:solidFill>
            <a:srgbClr val="1A1817"/>
          </a:solidFill>
          <a:ln w="19050">
            <a:solidFill>
              <a:srgbClr val="E8785C"/>
            </a:solidFill>
            <a:prstDash val="solid"/>
          </a:ln>
        </p:spPr>
      </p:sp>
      <p:pic>
        <p:nvPicPr>
          <p:cNvPr id="9" name="Image 3" descr="ic-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754" y="3240634"/>
            <a:ext cx="285293" cy="28529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02920" y="2944368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45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المتشابهات الصوتية تُعرض معًا عمدًا (furosemide / fluoxetine) مع إعادة سماع الصوت الأصلي</a:t>
            </a:r>
            <a:endParaRPr lang="ar-SA" sz="1450" dirty="0"/>
          </a:p>
        </p:txBody>
      </p:sp>
      <p:sp>
        <p:nvSpPr>
          <p:cNvPr id="11" name="Shape 5"/>
          <p:cNvSpPr/>
          <p:nvPr/>
        </p:nvSpPr>
        <p:spPr>
          <a:xfrm>
            <a:off x="5212080" y="4480560"/>
            <a:ext cx="548640" cy="548640"/>
          </a:xfrm>
          <a:prstGeom prst="ellipse">
            <a:avLst/>
          </a:prstGeom>
          <a:solidFill>
            <a:srgbClr val="1A1817"/>
          </a:solidFill>
          <a:ln w="19050">
            <a:solidFill>
              <a:srgbClr val="E8785C"/>
            </a:solidFill>
            <a:prstDash val="solid"/>
          </a:ln>
        </p:spPr>
      </p:sp>
      <p:pic>
        <p:nvPicPr>
          <p:cNvPr id="12" name="Image 4" descr="ic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3754" y="4612234"/>
            <a:ext cx="285293" cy="28529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02920" y="4315968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45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التوقيع بالضغط المطوّل — وهوية الموقّع محفورة لا يعدّلها أحد</a:t>
            </a:r>
            <a:endParaRPr lang="ar-SA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2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اللحظة الثالثة: مساعد عافية — رفيق الوردية</a:t>
            </a:r>
            <a:endParaRPr lang="ar-SA" sz="3200" dirty="0"/>
          </a:p>
        </p:txBody>
      </p:sp>
      <p:pic>
        <p:nvPicPr>
          <p:cNvPr id="3" name="Image 0" descr="shots/c-07-ward-list-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371600"/>
            <a:ext cx="2313339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600200"/>
            <a:ext cx="8138160" cy="1298448"/>
          </a:xfrm>
          <a:prstGeom prst="roundRect">
            <a:avLst>
              <a:gd name="adj" fmla="val 5634"/>
            </a:avLst>
          </a:prstGeom>
          <a:solidFill>
            <a:srgbClr val="1A1817"/>
          </a:solidFill>
          <a:ln w="12700">
            <a:solidFill>
              <a:srgbClr val="8FA9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17099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8F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«كم حالة عندي اليوم؟»</a:t>
            </a:r>
            <a:endParaRPr lang="ar-SA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216712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35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يعدّ من القاعدة الحية ويجيب ببطاقات منظمة — أرقام حقيقية، ليست نصًا منسوخًا</a:t>
            </a:r>
            <a:endParaRPr lang="ar-SA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3108960"/>
            <a:ext cx="8138160" cy="1298448"/>
          </a:xfrm>
          <a:prstGeom prst="roundRect">
            <a:avLst>
              <a:gd name="adj" fmla="val 5634"/>
            </a:avLst>
          </a:prstGeom>
          <a:solidFill>
            <a:srgbClr val="1A1817"/>
          </a:solidFill>
          <a:ln w="12700">
            <a:solidFill>
              <a:srgbClr val="8FA9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2186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8F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«وش باقي عليّ بالوردية؟»</a:t>
            </a:r>
            <a:endParaRPr lang="ar-SA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67588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35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مهام مشتقة من الواقع: تسليمات بلا توقيع، أدوية بلا تأكيد، طلبات معلقة</a:t>
            </a:r>
            <a:endParaRPr lang="ar-SA" sz="1350" dirty="0"/>
          </a:p>
        </p:txBody>
      </p:sp>
      <p:sp>
        <p:nvSpPr>
          <p:cNvPr id="10" name="Shape 7"/>
          <p:cNvSpPr/>
          <p:nvPr/>
        </p:nvSpPr>
        <p:spPr>
          <a:xfrm>
            <a:off x="502920" y="4617720"/>
            <a:ext cx="8138160" cy="1298448"/>
          </a:xfrm>
          <a:prstGeom prst="roundRect">
            <a:avLst>
              <a:gd name="adj" fmla="val 5634"/>
            </a:avLst>
          </a:prstGeom>
          <a:solidFill>
            <a:srgbClr val="1A1817"/>
          </a:solidFill>
          <a:ln w="12700">
            <a:solidFill>
              <a:srgbClr val="8FA9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7274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8F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«رتب لي مرضاي: غير الموقَّع أولًا»</a:t>
            </a:r>
            <a:endParaRPr lang="ar-SA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51846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35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يرتب القائمة ويحفظ ترتيبك الشخصي — ويقترح طلب مساعدة زميل حاضر، والإرسال بلمستك أنت</a:t>
            </a:r>
            <a:endParaRPr lang="ar-SA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26364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300" i="1" dirty="0">
                <a:solidFill>
                  <a:srgbClr val="8F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يتعلم تفضيلات كل ممرض من استخدامه — بذاكرة خاصة به لا يراها غيره</a:t>
            </a:r>
            <a:endParaRPr lang="ar-SA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4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الفريق: الوردية تتعاون بلمسة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645920"/>
            <a:ext cx="3529584" cy="356616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93976" y="1920240"/>
            <a:ext cx="658368" cy="658368"/>
          </a:xfrm>
          <a:prstGeom prst="ellipse">
            <a:avLst/>
          </a:prstGeom>
          <a:solidFill>
            <a:srgbClr val="58C48F"/>
          </a:solidFill>
          <a:ln w="12700">
            <a:solidFill>
              <a:srgbClr val="58C48F"/>
            </a:solidFill>
            <a:prstDash val="solid"/>
          </a:ln>
        </p:spPr>
      </p:sp>
      <p:pic>
        <p:nvPicPr>
          <p:cNvPr id="5" name="Image 0" descr="ic-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1984" y="2078248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74320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في الوردية الآن</a:t>
            </a:r>
            <a:endParaRPr lang="ar-SA" sz="1800" dirty="0"/>
          </a:p>
        </p:txBody>
      </p:sp>
      <p:sp>
        <p:nvSpPr>
          <p:cNvPr id="7" name="Text 4"/>
          <p:cNvSpPr/>
          <p:nvPr/>
        </p:nvSpPr>
        <p:spPr>
          <a:xfrm>
            <a:off x="932688" y="3291840"/>
            <a:ext cx="29809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ar-SA" alt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حضور لحظي حقيقي — يظهر الموجودون فعلًا فقط، ويختفون تلقائيًا عند الانقطاع</a:t>
            </a:r>
            <a:endParaRPr lang="ar-SA" sz="1350" dirty="0"/>
          </a:p>
        </p:txBody>
      </p:sp>
      <p:sp>
        <p:nvSpPr>
          <p:cNvPr id="8" name="Shape 5"/>
          <p:cNvSpPr/>
          <p:nvPr/>
        </p:nvSpPr>
        <p:spPr>
          <a:xfrm>
            <a:off x="4334256" y="1645920"/>
            <a:ext cx="3529584" cy="356616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69864" y="1920240"/>
            <a:ext cx="658368" cy="658368"/>
          </a:xfrm>
          <a:prstGeom prst="ellipse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pic>
        <p:nvPicPr>
          <p:cNvPr id="10" name="Image 1" descr="ic-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872" y="2078248"/>
            <a:ext cx="342351" cy="342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17136" y="274320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طلبات جاهزة بلا كتابة</a:t>
            </a:r>
            <a:endParaRPr lang="ar-SA" sz="1800" dirty="0"/>
          </a:p>
        </p:txBody>
      </p:sp>
      <p:sp>
        <p:nvSpPr>
          <p:cNvPr id="12" name="Text 8"/>
          <p:cNvSpPr/>
          <p:nvPr/>
        </p:nvSpPr>
        <p:spPr>
          <a:xfrm>
            <a:off x="4608576" y="3291840"/>
            <a:ext cx="29809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ar-SA" alt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 طلبات بلمسة: شاهد دواء · تغطية استراحة · رفع مريض · كانيولا · مراجعة عاجلة…</a:t>
            </a:r>
            <a:endParaRPr lang="ar-SA" sz="1350" dirty="0"/>
          </a:p>
        </p:txBody>
      </p:sp>
      <p:sp>
        <p:nvSpPr>
          <p:cNvPr id="13" name="Shape 9"/>
          <p:cNvSpPr/>
          <p:nvPr/>
        </p:nvSpPr>
        <p:spPr>
          <a:xfrm>
            <a:off x="8010144" y="1645920"/>
            <a:ext cx="3529584" cy="356616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445752" y="1920240"/>
            <a:ext cx="658368" cy="658368"/>
          </a:xfrm>
          <a:prstGeom prst="ellipse">
            <a:avLst/>
          </a:prstGeom>
          <a:solidFill>
            <a:srgbClr val="E8785C"/>
          </a:solidFill>
          <a:ln w="12700">
            <a:solidFill>
              <a:srgbClr val="E8785C"/>
            </a:solidFill>
            <a:prstDash val="solid"/>
          </a:ln>
        </p:spPr>
      </p:sp>
      <p:pic>
        <p:nvPicPr>
          <p:cNvPr id="15" name="Image 2" descr="ic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760" y="2078248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93024" y="274320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وارد بقسمين</a:t>
            </a:r>
            <a:endParaRPr lang="ar-SA" sz="1800" dirty="0"/>
          </a:p>
        </p:txBody>
      </p:sp>
      <p:sp>
        <p:nvSpPr>
          <p:cNvPr id="17" name="Text 12"/>
          <p:cNvSpPr/>
          <p:nvPr/>
        </p:nvSpPr>
        <p:spPr>
          <a:xfrm>
            <a:off x="8284464" y="3291840"/>
            <a:ext cx="29809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ar-SA" alt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التسليم | الطلبات — بعدّاد معلّق، وقبول/إنجاز موثّق الطرفين</a:t>
            </a:r>
            <a:endParaRPr lang="ar-SA" sz="1350" dirty="0"/>
          </a:p>
        </p:txBody>
      </p:sp>
      <p:sp>
        <p:nvSpPr>
          <p:cNvPr id="18" name="Text 13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مبنية على Firebase Realtime Database — انسيابية لحظية بقواعد أمان تمنع انتحال الحضور</a:t>
            </a:r>
            <a:endParaRPr lang="ar-SA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0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المريض: بسيط لدرجة أن الخوف لا يضيع فيه</a:t>
            </a:r>
            <a:endParaRPr lang="ar-SA" sz="3000" dirty="0"/>
          </a:p>
        </p:txBody>
      </p:sp>
      <p:pic>
        <p:nvPicPr>
          <p:cNvPr id="3" name="Image 0" descr="shots/p-02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1325880"/>
            <a:ext cx="2250248" cy="4892040"/>
          </a:xfrm>
          <a:prstGeom prst="rect">
            <a:avLst/>
          </a:prstGeom>
        </p:spPr>
      </p:pic>
      <p:pic>
        <p:nvPicPr>
          <p:cNvPr id="4" name="Image 1" descr="shots/p-03-red-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25880"/>
            <a:ext cx="2250248" cy="4892040"/>
          </a:xfrm>
          <a:prstGeom prst="rect">
            <a:avLst/>
          </a:prstGeom>
        </p:spPr>
      </p:pic>
      <p:pic>
        <p:nvPicPr>
          <p:cNvPr id="5" name="Image 2" descr="shots/p-04-emergency-interru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25880"/>
            <a:ext cx="2250248" cy="489204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" y="1691640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buSzPct val="100000"/>
              <a:buChar char="•"/>
            </a:pPr>
            <a:r>
              <a:rPr lang="ar-SA" altLang="en-US" sz="135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رئيسية بزر واحد كبير + شريط تنقل واضح + سجل تقاريرك</a:t>
            </a:r>
            <a:endParaRPr lang="ar-SA" sz="1350" dirty="0"/>
          </a:p>
        </p:txBody>
      </p:sp>
      <p:sp>
        <p:nvSpPr>
          <p:cNvPr id="7" name="Text 2"/>
          <p:cNvSpPr/>
          <p:nvPr/>
        </p:nvSpPr>
        <p:spPr>
          <a:xfrm>
            <a:off x="457200" y="3154680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buSzPct val="100000"/>
              <a:buChar char="•"/>
            </a:pPr>
            <a:r>
              <a:rPr lang="ar-SA" altLang="en-US" sz="135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أعلام حمراء فورية بدون إنترنت — و«لا أعرف» إجابة محترمة لا تُخفّض شيئًا</a:t>
            </a:r>
            <a:endParaRPr lang="ar-SA" sz="1350" dirty="0"/>
          </a:p>
        </p:txBody>
      </p:sp>
      <p:sp>
        <p:nvSpPr>
          <p:cNvPr id="8" name="Text 3"/>
          <p:cNvSpPr/>
          <p:nvPr/>
        </p:nvSpPr>
        <p:spPr>
          <a:xfrm>
            <a:off x="457200" y="4617720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buSzPct val="100000"/>
              <a:buChar char="•"/>
            </a:pPr>
            <a:r>
              <a:rPr lang="ar-SA" altLang="en-US" sz="135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الأحمر يُصرف كله في شاشة واحدة: ٩٩٩ فورًا — وزر الطوارئ حاضر في كل شاشة حتى قبل الدخول</a:t>
            </a:r>
            <a:endParaRPr lang="ar-SA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4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الإدارة: العين التي تُبقي الوعد صادقًا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6002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2002536"/>
            <a:ext cx="566928" cy="566928"/>
          </a:xfrm>
          <a:prstGeom prst="ellipse">
            <a:avLst/>
          </a:prstGeom>
          <a:solidFill>
            <a:srgbClr val="E8785C"/>
          </a:solidFill>
          <a:ln w="12700">
            <a:solidFill>
              <a:srgbClr val="E8785C"/>
            </a:solidFill>
            <a:prstDash val="solid"/>
          </a:ln>
        </p:spPr>
      </p:sp>
      <p:pic>
        <p:nvPicPr>
          <p:cNvPr id="5" name="Image 0" descr="ic-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7383" y="2138599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إنذار تجاوز وقت المراجعة</a:t>
            </a:r>
            <a:endParaRPr lang="ar-SA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167128"/>
            <a:ext cx="9464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جناح يلتزم بوقت مراجعة باسم مسؤول — واللوحة تفضح أي ملف تجاوزه. لوحة الخرق تظهر حتى وهي فارغة وتقول ذلك.</a:t>
            </a:r>
            <a:endParaRPr lang="ar-SA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3172968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561320" y="3575304"/>
            <a:ext cx="566928" cy="566928"/>
          </a:xfrm>
          <a:prstGeom prst="ellipse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pic>
        <p:nvPicPr>
          <p:cNvPr id="10" name="Image 1" descr="ic-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7383" y="3711367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33101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حسابات الطاقم بالدعوات</a:t>
            </a:r>
            <a:endParaRPr lang="ar-SA" sz="1800" dirty="0"/>
          </a:p>
        </p:txBody>
      </p:sp>
      <p:sp>
        <p:nvSpPr>
          <p:cNvPr id="12" name="Text 8"/>
          <p:cNvSpPr/>
          <p:nvPr/>
        </p:nvSpPr>
        <p:spPr>
          <a:xfrm>
            <a:off x="914400" y="3739896"/>
            <a:ext cx="9464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الممرض لا يسجل نفسه — الإدارة تدعوه بالإيميل بهوية توقيع دائمة. سجل دخول للأجهزة المشتركة.</a:t>
            </a:r>
            <a:endParaRPr lang="ar-SA" sz="1350" dirty="0"/>
          </a:p>
        </p:txBody>
      </p:sp>
      <p:sp>
        <p:nvSpPr>
          <p:cNvPr id="13" name="Shape 9"/>
          <p:cNvSpPr/>
          <p:nvPr/>
        </p:nvSpPr>
        <p:spPr>
          <a:xfrm>
            <a:off x="658368" y="4745736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561320" y="5148072"/>
            <a:ext cx="566928" cy="566928"/>
          </a:xfrm>
          <a:prstGeom prst="ellipse">
            <a:avLst/>
          </a:prstGeom>
          <a:solidFill>
            <a:srgbClr val="58C48F"/>
          </a:solidFill>
          <a:ln w="12700">
            <a:solidFill>
              <a:srgbClr val="58C48F"/>
            </a:solidFill>
            <a:prstDash val="solid"/>
          </a:ln>
        </p:spPr>
      </p:sp>
      <p:pic>
        <p:nvPicPr>
          <p:cNvPr id="15" name="Image 2" descr="ic-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7383" y="5284135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77840" y="488289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حوكمة الأسئلة السريرية</a:t>
            </a:r>
            <a:endParaRPr lang="ar-SA" sz="1800" dirty="0"/>
          </a:p>
        </p:txBody>
      </p:sp>
      <p:sp>
        <p:nvSpPr>
          <p:cNvPr id="17" name="Text 12"/>
          <p:cNvSpPr/>
          <p:nvPr/>
        </p:nvSpPr>
        <p:spPr>
          <a:xfrm>
            <a:off x="914400" y="5312664"/>
            <a:ext cx="9464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قاعدة علم أحمر تحمل اسم معتمِدها ودوره وتاريخه — وتعديلها يتطلب اسم المعتمد. الجودة كلها مجمّعة بلا أي قياس فردي.</a:t>
            </a:r>
            <a:endParaRPr lang="ar-SA" sz="1350" dirty="0"/>
          </a:p>
        </p:txBody>
      </p:sp>
      <p:sp>
        <p:nvSpPr>
          <p:cNvPr id="18" name="Text 13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منشورة الآن: afia-dashboard.vercel.app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8FA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937760" y="1874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54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التقنية والذكاء</a:t>
            </a:r>
            <a:endParaRPr lang="ar-SA" sz="5400" dirty="0"/>
          </a:p>
        </p:txBody>
      </p:sp>
      <p:sp>
        <p:nvSpPr>
          <p:cNvPr id="4" name="Text 2"/>
          <p:cNvSpPr/>
          <p:nvPr/>
        </p:nvSpPr>
        <p:spPr>
          <a:xfrm>
            <a:off x="4937760" y="3017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80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بنية تفرض السلامة — وذكاء لا يستطيع أن يخطئ سريريًا</a:t>
            </a:r>
            <a:endParaRPr lang="ar-SA" sz="1800" dirty="0"/>
          </a:p>
        </p:txBody>
      </p:sp>
      <p:pic>
        <p:nvPicPr>
          <p:cNvPr id="5" name="Image 0" descr="pulse-fa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4434840"/>
            <a:ext cx="822960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4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البنية: القواعد محفورة في كل طبقة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146304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2D4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4630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5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الممرض</a:t>
            </a:r>
            <a:endParaRPr lang="ar-SA" sz="1500" dirty="0"/>
          </a:p>
        </p:txBody>
      </p:sp>
      <p:sp>
        <p:nvSpPr>
          <p:cNvPr id="5" name="Shape 3"/>
          <p:cNvSpPr/>
          <p:nvPr/>
        </p:nvSpPr>
        <p:spPr>
          <a:xfrm>
            <a:off x="2514600" y="2148840"/>
            <a:ext cx="0" cy="50292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146304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87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4630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5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المريض</a:t>
            </a:r>
            <a:endParaRPr lang="ar-SA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2148840"/>
            <a:ext cx="0" cy="50292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146304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58C4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4630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5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الإدارة</a:t>
            </a:r>
            <a:endParaRPr lang="ar-SA" sz="1500" dirty="0"/>
          </a:p>
        </p:txBody>
      </p:sp>
      <p:sp>
        <p:nvSpPr>
          <p:cNvPr id="11" name="Shape 9"/>
          <p:cNvSpPr/>
          <p:nvPr/>
        </p:nvSpPr>
        <p:spPr>
          <a:xfrm>
            <a:off x="9555480" y="2148840"/>
            <a:ext cx="0" cy="50292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697480"/>
            <a:ext cx="9875520" cy="1051560"/>
          </a:xfrm>
          <a:prstGeom prst="roundRect">
            <a:avLst>
              <a:gd name="adj" fmla="val 8696"/>
            </a:avLst>
          </a:prstGeom>
          <a:solidFill>
            <a:srgbClr val="1A2438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697480"/>
            <a:ext cx="9326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— قاعدة حية واحدة    </a:t>
            </a:r>
            <a:pPr algn="ctr" indent="0" marL="0">
              <a:buNone/>
            </a:pPr>
            <a:r>
              <a:rPr lang="ar-SA" altLang="en-US" sz="1400" dirty="0">
                <a:solidFill>
                  <a:srgbClr val="8F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(السجلات · الشرق الأوسط)  ·  Realtime DB (التشغيل اللحظي)  ·  AI Logic (Gemini)</a:t>
            </a:r>
            <a:endParaRPr lang="ar-SA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buSzPct val="100000"/>
              <a:buChar char="•"/>
            </a:pPr>
            <a:r>
              <a:rPr lang="ar-SA" alt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أمان على مستوى القاعدة: لا تخفيض أولوية، لا تعديل توقيع، سجل تدقيق لا يُمحى — حتى لو عُدّل التطبيق نفسه</a:t>
            </a:r>
            <a:endParaRPr lang="ar-SA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8006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buSzPct val="100000"/>
              <a:buChar char="•"/>
            </a:pPr>
            <a:r>
              <a:rPr lang="ar-SA" alt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التصعيد أحادي الاتجاه و«غير معروف» قيمة من الدرجة الأولى — عشرة قيود سلامة مفروضة في الأنواع والاختبارات</a:t>
            </a:r>
            <a:endParaRPr lang="ar-SA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55778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buSzPct val="100000"/>
              <a:buChar char="•"/>
            </a:pPr>
            <a:r>
              <a:rPr lang="ar-SA" altLang="en-US" sz="14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 للتكامل: النظام يولّد FHIR DocumentReference صالحًا — ربط أي نظام مستشفى (HIS/EMR) يعني كتابة مُصدِّر واحد، لا إعادة بناء</a:t>
            </a:r>
            <a:endParaRPr lang="ar-SA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4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سرّنا: الذكاء الآمن ليس وعدًا — بل بنية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10698480" y="566928"/>
            <a:ext cx="658368" cy="658368"/>
          </a:xfrm>
          <a:prstGeom prst="ellipse">
            <a:avLst/>
          </a:prstGeom>
          <a:solidFill>
            <a:srgbClr val="8FA9D9"/>
          </a:solidFill>
          <a:ln w="12700">
            <a:solidFill>
              <a:srgbClr val="8FA9D9"/>
            </a:solidFill>
            <a:prstDash val="solid"/>
          </a:ln>
        </p:spPr>
      </p:sp>
      <p:pic>
        <p:nvPicPr>
          <p:cNvPr id="4" name="Image 0" descr="ic-spark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488" y="724936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ar-SA" altLang="en-US" sz="200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حلول الذكاء الطبي تَعِد: «سنحاول ألا نخطئ».</a:t>
            </a:r>
            <a:endParaRPr lang="ar-SA" sz="20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ar-SA" altLang="en-US" sz="200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عافية بُنيت مختلفة: الحكم السريري ليس ممنوعًا بسياسة — بل مستحيل بنيويًا.</a:t>
            </a:r>
            <a:endParaRPr lang="ar-SA" sz="2000" dirty="0"/>
          </a:p>
        </p:txBody>
      </p:sp>
      <p:sp>
        <p:nvSpPr>
          <p:cNvPr id="6" name="Shape 3"/>
          <p:cNvSpPr/>
          <p:nvPr/>
        </p:nvSpPr>
        <p:spPr>
          <a:xfrm>
            <a:off x="10835640" y="3063240"/>
            <a:ext cx="475488" cy="475488"/>
          </a:xfrm>
          <a:prstGeom prst="ellipse">
            <a:avLst/>
          </a:prstGeom>
          <a:solidFill>
            <a:srgbClr val="1A1817"/>
          </a:solidFill>
          <a:ln w="19050">
            <a:solidFill>
              <a:srgbClr val="8FA9D9"/>
            </a:solidFill>
            <a:prstDash val="solid"/>
          </a:ln>
        </p:spPr>
      </p:sp>
      <p:pic>
        <p:nvPicPr>
          <p:cNvPr id="7" name="Image 1" descr="ic-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9757" y="3177357"/>
            <a:ext cx="247254" cy="2472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01752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500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المساعد لا تحتوي أداة تشخيص أو تقييم خطورة — لا يمكن استدعاء ما هو غير موجود</a:t>
            </a:r>
            <a:endParaRPr lang="ar-SA" sz="1500" dirty="0"/>
          </a:p>
        </p:txBody>
      </p:sp>
      <p:sp>
        <p:nvSpPr>
          <p:cNvPr id="9" name="Shape 5"/>
          <p:cNvSpPr/>
          <p:nvPr/>
        </p:nvSpPr>
        <p:spPr>
          <a:xfrm>
            <a:off x="10835640" y="3904488"/>
            <a:ext cx="475488" cy="475488"/>
          </a:xfrm>
          <a:prstGeom prst="ellipse">
            <a:avLst/>
          </a:prstGeom>
          <a:solidFill>
            <a:srgbClr val="1A1817"/>
          </a:solidFill>
          <a:ln w="19050">
            <a:solidFill>
              <a:srgbClr val="8FA9D9"/>
            </a:solidFill>
            <a:prstDash val="solid"/>
          </a:ln>
        </p:spPr>
      </p:sp>
      <p:pic>
        <p:nvPicPr>
          <p:cNvPr id="10" name="Image 2" descr="ic-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9757" y="4018605"/>
            <a:ext cx="247254" cy="2472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3858768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500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 البيانات نفسها لا تحمل حقل خطورة — تُسقطه عند القراءة قبل أن يصل للنموذج</a:t>
            </a:r>
            <a:endParaRPr lang="ar-SA" sz="1500" dirty="0"/>
          </a:p>
        </p:txBody>
      </p:sp>
      <p:sp>
        <p:nvSpPr>
          <p:cNvPr id="12" name="Shape 7"/>
          <p:cNvSpPr/>
          <p:nvPr/>
        </p:nvSpPr>
        <p:spPr>
          <a:xfrm>
            <a:off x="10835640" y="4745736"/>
            <a:ext cx="475488" cy="475488"/>
          </a:xfrm>
          <a:prstGeom prst="ellipse">
            <a:avLst/>
          </a:prstGeom>
          <a:solidFill>
            <a:srgbClr val="1A1817"/>
          </a:solidFill>
          <a:ln w="19050">
            <a:solidFill>
              <a:srgbClr val="8FA9D9"/>
            </a:solidFill>
            <a:prstDash val="solid"/>
          </a:ln>
        </p:spPr>
      </p:sp>
      <p:pic>
        <p:nvPicPr>
          <p:cNvPr id="13" name="Image 3" descr="ic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9757" y="4859853"/>
            <a:ext cx="247254" cy="24725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960" y="4700016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500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مخرجات تطبيق المريض تُطابَق كلمة-بكلمة مع كلامه هو — أي إضافة من النموذج تُرمى</a:t>
            </a:r>
            <a:endParaRPr lang="ar-SA" sz="1500" dirty="0"/>
          </a:p>
        </p:txBody>
      </p:sp>
      <p:sp>
        <p:nvSpPr>
          <p:cNvPr id="15" name="Shape 9"/>
          <p:cNvSpPr/>
          <p:nvPr/>
        </p:nvSpPr>
        <p:spPr>
          <a:xfrm>
            <a:off x="10835640" y="5586984"/>
            <a:ext cx="475488" cy="475488"/>
          </a:xfrm>
          <a:prstGeom prst="ellipse">
            <a:avLst/>
          </a:prstGeom>
          <a:solidFill>
            <a:srgbClr val="1A1817"/>
          </a:solidFill>
          <a:ln w="19050">
            <a:solidFill>
              <a:srgbClr val="8FA9D9"/>
            </a:solidFill>
            <a:prstDash val="solid"/>
          </a:ln>
        </p:spPr>
      </p:sp>
      <p:pic>
        <p:nvPicPr>
          <p:cNvPr id="16" name="Image 4" descr="ic-he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9757" y="5701101"/>
            <a:ext cx="247254" cy="24725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22960" y="5541264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500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وإن غاب الإنترنت أو النموذج: بديل حتمي يكمل العمل — التطبيق لا يتعطل أبدًا</a:t>
            </a:r>
            <a:endParaRPr lang="ar-SA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4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نطلب تصديقنا — هذه الأدلة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78308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103120"/>
            <a:ext cx="26151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2D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ar-SA" alt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اختبارًا آليًا ناجحًا عبر المنظومة</a:t>
            </a:r>
            <a:endParaRPr lang="ar-SA" sz="1350" dirty="0"/>
          </a:p>
        </p:txBody>
      </p:sp>
      <p:sp>
        <p:nvSpPr>
          <p:cNvPr id="6" name="Shape 4"/>
          <p:cNvSpPr/>
          <p:nvPr/>
        </p:nvSpPr>
        <p:spPr>
          <a:xfrm>
            <a:off x="3419856" y="178308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9856" y="2103120"/>
            <a:ext cx="26151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8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3584448" y="3520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ar-SA" alt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قيود سلامة مفروضة بنيويًا</a:t>
            </a:r>
            <a:endParaRPr lang="ar-SA" sz="1350" dirty="0"/>
          </a:p>
        </p:txBody>
      </p:sp>
      <p:sp>
        <p:nvSpPr>
          <p:cNvPr id="9" name="Shape 7"/>
          <p:cNvSpPr/>
          <p:nvPr/>
        </p:nvSpPr>
        <p:spPr>
          <a:xfrm>
            <a:off x="6181344" y="178308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81344" y="2103120"/>
            <a:ext cx="26151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2D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6345936" y="3520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ar-SA" alt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واجهات تعمل على قاعدة حية واحدة</a:t>
            </a:r>
            <a:endParaRPr lang="ar-SA" sz="1350" dirty="0"/>
          </a:p>
        </p:txBody>
      </p:sp>
      <p:sp>
        <p:nvSpPr>
          <p:cNvPr id="12" name="Shape 10"/>
          <p:cNvSpPr/>
          <p:nvPr/>
        </p:nvSpPr>
        <p:spPr>
          <a:xfrm>
            <a:off x="8942832" y="178308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42832" y="2103120"/>
            <a:ext cx="26151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58C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6200" dirty="0"/>
          </a:p>
        </p:txBody>
      </p:sp>
      <p:sp>
        <p:nvSpPr>
          <p:cNvPr id="14" name="Text 12"/>
          <p:cNvSpPr/>
          <p:nvPr/>
        </p:nvSpPr>
        <p:spPr>
          <a:xfrm>
            <a:off x="9107424" y="3520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ar-SA" altLang="en-US" sz="13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حكم سريري يصدر من الذكاء الاصطناعي</a:t>
            </a:r>
            <a:endParaRPr lang="ar-SA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48920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ar-SA" altLang="en-US" sz="15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ومصارحةً للجنة: دقة التفريغ على لهجات الأجنحة الحقيقية لم تُقس بعد، وتكامل المستشفيات لم يُثبت ميدانيًا — هذان بالضبط هدفا تجربتنا الميدانية الأولى. نظام يعرف حدوده نظامٌ يمكن الوثوق به.</a:t>
            </a:r>
            <a:endParaRPr lang="ar-SA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8FA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937760" y="1874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54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السوق والفرصة</a:t>
            </a:r>
            <a:endParaRPr lang="ar-SA" sz="5400" dirty="0"/>
          </a:p>
        </p:txBody>
      </p:sp>
      <p:sp>
        <p:nvSpPr>
          <p:cNvPr id="4" name="Text 2"/>
          <p:cNvSpPr/>
          <p:nvPr/>
        </p:nvSpPr>
        <p:spPr>
          <a:xfrm>
            <a:off x="4937760" y="3017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80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يحتاج عافية — ولماذا الخليج أولًا</a:t>
            </a:r>
            <a:endParaRPr lang="ar-SA" sz="1800" dirty="0"/>
          </a:p>
        </p:txBody>
      </p:sp>
      <p:pic>
        <p:nvPicPr>
          <p:cNvPr id="5" name="Image 0" descr="pulse-fa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4434840"/>
            <a:ext cx="822960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4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الجمهور المستهدف — بدقة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463040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06840" y="1691640"/>
            <a:ext cx="2286000" cy="621792"/>
          </a:xfrm>
          <a:prstGeom prst="roundRect">
            <a:avLst>
              <a:gd name="adj" fmla="val 50000"/>
            </a:avLst>
          </a:prstGeom>
          <a:solidFill>
            <a:srgbClr val="2D4A8A"/>
          </a:solidFill>
          <a:ln/>
        </p:spPr>
      </p:sp>
      <p:sp>
        <p:nvSpPr>
          <p:cNvPr id="5" name="Text 3"/>
          <p:cNvSpPr/>
          <p:nvPr/>
        </p:nvSpPr>
        <p:spPr>
          <a:xfrm>
            <a:off x="9006840" y="16916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المستخدم الأول</a:t>
            </a:r>
            <a:endParaRPr lang="ar-SA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572768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ممرضو ومشرفو أجنحة التنويم (Acute/Medical) في المستشفيات الحكومية والخاصة — يسلّمون ٨-١٢ مريضًا كل وردية، أجهزتهم مشتركة، ووقتهم أثمن مورد بالمنشأة</a:t>
            </a:r>
            <a:endParaRPr lang="ar-SA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2697480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06840" y="2926080"/>
            <a:ext cx="2286000" cy="621792"/>
          </a:xfrm>
          <a:prstGeom prst="roundRect">
            <a:avLst>
              <a:gd name="adj" fmla="val 50000"/>
            </a:avLst>
          </a:prstGeom>
          <a:solidFill>
            <a:srgbClr val="E8785C"/>
          </a:solidFill>
          <a:ln/>
        </p:spPr>
      </p:sp>
      <p:sp>
        <p:nvSpPr>
          <p:cNvPr id="9" name="Text 7"/>
          <p:cNvSpPr/>
          <p:nvPr/>
        </p:nvSpPr>
        <p:spPr>
          <a:xfrm>
            <a:off x="9006840" y="292608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المستخدم الثاني</a:t>
            </a:r>
            <a:endParaRPr lang="ar-SA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807208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المرضى وذووهم قبل القدوم للمنشأة — خصوصًا كبار السن ومرافقوهم: واجهة ٦٤ بكسل، عربي/إنجليزي، و«لا أعرف» إجابة محترمة</a:t>
            </a:r>
            <a:endParaRPr lang="ar-SA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3931920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06840" y="4160520"/>
            <a:ext cx="2286000" cy="621792"/>
          </a:xfrm>
          <a:prstGeom prst="roundRect">
            <a:avLst>
              <a:gd name="adj" fmla="val 50000"/>
            </a:avLst>
          </a:prstGeom>
          <a:solidFill>
            <a:srgbClr val="58C48F"/>
          </a:solidFill>
          <a:ln/>
        </p:spPr>
      </p:sp>
      <p:sp>
        <p:nvSpPr>
          <p:cNvPr id="13" name="Text 11"/>
          <p:cNvSpPr/>
          <p:nvPr/>
        </p:nvSpPr>
        <p:spPr>
          <a:xfrm>
            <a:off x="9006840" y="416052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صاحب القرار (المشتري)</a:t>
            </a:r>
            <a:endParaRPr lang="ar-SA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4041648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إدارات التمريض والجودة وتحول الصحة الرقمية — في البحرين أولًا (وزارة الصحة والمستشفيات الخاصة)، ثم الخليج: نفس اللغة، نفس أنماط التشغيل، وأنظمة صحية تتحول رقميًا بميزانيات نشطة</a:t>
            </a:r>
            <a:endParaRPr lang="ar-SA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5166360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DF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06840" y="5394960"/>
            <a:ext cx="2286000" cy="621792"/>
          </a:xfrm>
          <a:prstGeom prst="roundRect">
            <a:avLst>
              <a:gd name="adj" fmla="val 50000"/>
            </a:avLst>
          </a:prstGeom>
          <a:solidFill>
            <a:srgbClr val="F2B44C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53949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شريك التوسع</a:t>
            </a:r>
            <a:endParaRPr lang="ar-SA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5276088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2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مزوّدو أنظمة المستشفيات (HIS) المحليون — عافية لا تنافسهم بل تكمل أخطر فجوة عندهم، وتتصل بهم عبر FHIR</a:t>
            </a:r>
            <a:endParaRPr lang="ar-SA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3400" b="1" dirty="0">
                <a:solidFill>
                  <a:srgbClr val="1A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— بعيون مفتوحة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6144768" y="1234440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58C4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73368" y="13441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58C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القوة</a:t>
            </a:r>
            <a:endParaRPr lang="ar-SA" sz="1700" dirty="0"/>
          </a:p>
        </p:txBody>
      </p:sp>
      <p:sp>
        <p:nvSpPr>
          <p:cNvPr id="5" name="Text 3"/>
          <p:cNvSpPr/>
          <p:nvPr/>
        </p:nvSpPr>
        <p:spPr>
          <a:xfrm>
            <a:off x="6419088" y="1801368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منتج مكتمل يعمل الآن — لا فكرة على ورق</a:t>
            </a:r>
            <a:endParaRPr lang="ar-SA" sz="120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سلامة مفروضة بنيويًا + ١١٤ اختبارًا</a:t>
            </a:r>
            <a:endParaRPr lang="ar-SA" sz="120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عربي/إنجليزي أصيل بتصميم يحترم الميدان</a:t>
            </a:r>
            <a:endParaRPr lang="ar-SA" sz="120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FHIR-ready — طريق تكامل واضح</a:t>
            </a:r>
            <a:endParaRPr lang="ar-SA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234440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E87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3441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E8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الضعف</a:t>
            </a:r>
            <a:endParaRPr lang="ar-SA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1801368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دقة التفريغ على لهجات الأجنحة غير مقاسة بعد</a:t>
            </a:r>
            <a:endParaRPr lang="ar-SA" sz="120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تجربة ميدانية في مستشفى حتى الآن</a:t>
            </a:r>
            <a:endParaRPr lang="ar-SA" sz="120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أولًا — أندرويد لاحق</a:t>
            </a:r>
            <a:endParaRPr lang="ar-SA" sz="120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صغير — التوسع يحتاج شركاء</a:t>
            </a:r>
            <a:endParaRPr lang="ar-SA" sz="1200" dirty="0"/>
          </a:p>
        </p:txBody>
      </p:sp>
      <p:sp>
        <p:nvSpPr>
          <p:cNvPr id="9" name="Shape 7"/>
          <p:cNvSpPr/>
          <p:nvPr/>
        </p:nvSpPr>
        <p:spPr>
          <a:xfrm>
            <a:off x="6144768" y="3977640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2D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40873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2D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الفرص</a:t>
            </a:r>
            <a:endParaRPr lang="ar-SA" sz="1700" dirty="0"/>
          </a:p>
        </p:txBody>
      </p:sp>
      <p:sp>
        <p:nvSpPr>
          <p:cNvPr id="11" name="Text 9"/>
          <p:cNvSpPr/>
          <p:nvPr/>
        </p:nvSpPr>
        <p:spPr>
          <a:xfrm>
            <a:off x="6419088" y="4544568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تحول رقمي صحي خليجي بميزانيات نشطة</a:t>
            </a:r>
            <a:endParaRPr lang="ar-SA" sz="120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نقص التمريض عالميًا يرفع قيمة كل دقيقة</a:t>
            </a:r>
            <a:endParaRPr lang="ar-SA" sz="120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شراكات HIS المحلية عبر FHIR</a:t>
            </a:r>
            <a:endParaRPr lang="ar-SA" sz="120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التوسع: العيادات، الرعاية المنزلية، الأسنان</a:t>
            </a:r>
            <a:endParaRPr lang="ar-SA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F2B4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0873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F2B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التهديدات</a:t>
            </a:r>
            <a:endParaRPr lang="ar-SA" sz="1700" dirty="0"/>
          </a:p>
        </p:txBody>
      </p:sp>
      <p:sp>
        <p:nvSpPr>
          <p:cNvPr id="14" name="Text 12"/>
          <p:cNvSpPr/>
          <p:nvPr/>
        </p:nvSpPr>
        <p:spPr>
          <a:xfrm>
            <a:off x="932688" y="4544568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التصنيف التنظيمي للأدوات السريرية الرقمية</a:t>
            </a:r>
            <a:endParaRPr lang="ar-SA" sz="120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دخول عمالقة HIS على نفس الفجوة</a:t>
            </a:r>
            <a:endParaRPr lang="ar-SA" sz="120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حساسية بيانات صحية = ثقة تُبنى ببطء</a:t>
            </a:r>
            <a:endParaRPr lang="ar-SA" sz="1200" dirty="0"/>
          </a:p>
          <a:p>
            <a:pPr algn="r" marL="342900" indent="-342900">
              <a:spcAft>
                <a:spcPts val="5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تغير أنظمة الخصوصية بين دول الخليج</a:t>
            </a:r>
            <a:endParaRPr lang="ar-SA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lse-periwink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2468880"/>
            <a:ext cx="8229600" cy="2157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0515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48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عافية تعمل الآن.</a:t>
            </a:r>
            <a:endParaRPr lang="ar-SA" sz="4800" dirty="0"/>
          </a:p>
        </p:txBody>
      </p:sp>
      <p:sp>
        <p:nvSpPr>
          <p:cNvPr id="4" name="Text 1"/>
          <p:cNvSpPr/>
          <p:nvPr/>
        </p:nvSpPr>
        <p:spPr>
          <a:xfrm>
            <a:off x="0" y="4754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1800" dirty="0">
                <a:solidFill>
                  <a:srgbClr val="A8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تطبيقان على TestFlight · لوحة منشورة · قاعدة حية · ١١٤ اختبارًا</a:t>
            </a:r>
            <a:endParaRPr lang="ar-SA" sz="1800" dirty="0"/>
          </a:p>
        </p:txBody>
      </p:sp>
      <p:sp>
        <p:nvSpPr>
          <p:cNvPr id="5" name="Text 2"/>
          <p:cNvSpPr/>
          <p:nvPr/>
        </p:nvSpPr>
        <p:spPr>
          <a:xfrm>
            <a:off x="0" y="53492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1600" dirty="0">
                <a:solidFill>
                  <a:srgbClr val="8FA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التالية: تجربة ميدانية في جناح واحد — ٩٠ يومًا تقيس الوقت الموفَّر وجودة التسليم</a:t>
            </a:r>
            <a:endParaRPr lang="ar-SA" sz="1600" dirty="0"/>
          </a:p>
        </p:txBody>
      </p:sp>
      <p:sp>
        <p:nvSpPr>
          <p:cNvPr id="6" name="Text 3"/>
          <p:cNvSpPr/>
          <p:nvPr/>
        </p:nvSpPr>
        <p:spPr>
          <a:xfrm>
            <a:off x="0" y="60350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15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شكرًا — جاهزون لأي سؤال</a:t>
            </a:r>
            <a:endParaRPr lang="ar-SA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2026-08-19T15:21:19Z</dcterms:created>
  <dcterms:modified xsi:type="dcterms:W3CDTF">2026-08-19T15:21:19Z</dcterms:modified>
</cp:coreProperties>
</file>